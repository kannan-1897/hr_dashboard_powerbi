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5" d="100"/>
          <a:sy n="105" d="100"/>
        </p:scale>
        <p:origin x="75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00C1475-7E44-44F7-9E1C-94F21A494C9F}" type="datetimeFigureOut">
              <a:rPr lang="en-IN" smtClean="0"/>
              <a:t>12-04-2026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3045642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0C1475-7E44-44F7-9E1C-94F21A494C9F}"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162882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C1475-7E44-44F7-9E1C-94F21A494C9F}"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1494879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0C1475-7E44-44F7-9E1C-94F21A494C9F}" type="datetimeFigureOut">
              <a:rPr lang="en-IN" smtClean="0"/>
              <a:t>12-04-2026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720995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0C1475-7E44-44F7-9E1C-94F21A494C9F}" type="datetimeFigureOut">
              <a:rPr lang="en-IN" smtClean="0"/>
              <a:t>12-04-2026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2273216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0C1475-7E44-44F7-9E1C-94F21A494C9F}" type="datetimeFigureOut">
              <a:rPr lang="en-IN" smtClean="0"/>
              <a:t>12-04-2026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1136683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0C1475-7E44-44F7-9E1C-94F21A494C9F}" type="datetimeFigureOut">
              <a:rPr lang="en-IN" smtClean="0"/>
              <a:t>12-04-2026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2966547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0C1475-7E44-44F7-9E1C-94F21A494C9F}" type="datetimeFigureOut">
              <a:rPr lang="en-IN" smtClean="0"/>
              <a:t>12-04-2026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1016685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0C1475-7E44-44F7-9E1C-94F21A494C9F}" type="datetimeFigureOut">
              <a:rPr lang="en-IN" smtClean="0"/>
              <a:t>12-04-2026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931002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0C1475-7E44-44F7-9E1C-94F21A494C9F}" type="datetimeFigureOut">
              <a:rPr lang="en-IN" smtClean="0"/>
              <a:t>12-04-2026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3434122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00C1475-7E44-44F7-9E1C-94F21A494C9F}"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1934273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00C1475-7E44-44F7-9E1C-94F21A494C9F}"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33502410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C1475-7E44-44F7-9E1C-94F21A494C9F}"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3897110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00C1475-7E44-44F7-9E1C-94F21A494C9F}" type="datetimeFigureOut">
              <a:rPr lang="en-IN" smtClean="0"/>
              <a:t>12-04-2026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3523210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00C1475-7E44-44F7-9E1C-94F21A494C9F}" type="datetimeFigureOut">
              <a:rPr lang="en-IN" smtClean="0"/>
              <a:t>12-04-2026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1057798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00C1475-7E44-44F7-9E1C-94F21A494C9F}"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11566999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00C1475-7E44-44F7-9E1C-94F21A494C9F}"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8CEB82C-F4FA-481D-BFC6-123D11FEB2DE}" type="slidenum">
              <a:rPr lang="en-IN" smtClean="0"/>
              <a:t>‹#›</a:t>
            </a:fld>
            <a:endParaRPr lang="en-IN"/>
          </a:p>
        </p:txBody>
      </p:sp>
    </p:spTree>
    <p:extLst>
      <p:ext uri="{BB962C8B-B14F-4D97-AF65-F5344CB8AC3E}">
        <p14:creationId xmlns:p14="http://schemas.microsoft.com/office/powerpoint/2010/main" val="1490495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00C1475-7E44-44F7-9E1C-94F21A494C9F}" type="datetimeFigureOut">
              <a:rPr lang="en-IN" smtClean="0"/>
              <a:t>12-04-2026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18CEB82C-F4FA-481D-BFC6-123D11FEB2DE}" type="slidenum">
              <a:rPr lang="en-IN" smtClean="0"/>
              <a:t>‹#›</a:t>
            </a:fld>
            <a:endParaRPr lang="en-IN"/>
          </a:p>
        </p:txBody>
      </p:sp>
    </p:spTree>
    <p:extLst>
      <p:ext uri="{BB962C8B-B14F-4D97-AF65-F5344CB8AC3E}">
        <p14:creationId xmlns:p14="http://schemas.microsoft.com/office/powerpoint/2010/main" val="24804208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AB93-B752-4712-87D4-F5E168FE3B10}"/>
              </a:ext>
            </a:extLst>
          </p:cNvPr>
          <p:cNvSpPr>
            <a:spLocks noGrp="1"/>
          </p:cNvSpPr>
          <p:nvPr>
            <p:ph type="ctrTitle"/>
          </p:nvPr>
        </p:nvSpPr>
        <p:spPr/>
        <p:txBody>
          <a:bodyPr/>
          <a:lstStyle/>
          <a:p>
            <a:r>
              <a:rPr lang="en-GB" dirty="0"/>
              <a:t>HR ANALYTICS DASHBOARD</a:t>
            </a:r>
            <a:endParaRPr lang="en-IN" dirty="0"/>
          </a:p>
        </p:txBody>
      </p:sp>
      <p:sp>
        <p:nvSpPr>
          <p:cNvPr id="3" name="Subtitle 2">
            <a:extLst>
              <a:ext uri="{FF2B5EF4-FFF2-40B4-BE49-F238E27FC236}">
                <a16:creationId xmlns:a16="http://schemas.microsoft.com/office/drawing/2014/main" id="{DB29DA00-C446-49DC-ABE6-A67E017342AC}"/>
              </a:ext>
            </a:extLst>
          </p:cNvPr>
          <p:cNvSpPr>
            <a:spLocks noGrp="1"/>
          </p:cNvSpPr>
          <p:nvPr>
            <p:ph type="subTitle" idx="1"/>
          </p:nvPr>
        </p:nvSpPr>
        <p:spPr/>
        <p:txBody>
          <a:bodyPr/>
          <a:lstStyle/>
          <a:p>
            <a:r>
              <a:rPr lang="en-GB" dirty="0"/>
              <a:t>SQL + Power BI PROJECT</a:t>
            </a:r>
            <a:endParaRPr lang="en-IN" dirty="0"/>
          </a:p>
        </p:txBody>
      </p:sp>
    </p:spTree>
    <p:extLst>
      <p:ext uri="{BB962C8B-B14F-4D97-AF65-F5344CB8AC3E}">
        <p14:creationId xmlns:p14="http://schemas.microsoft.com/office/powerpoint/2010/main" val="2744306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AB93-B752-4712-87D4-F5E168FE3B10}"/>
              </a:ext>
            </a:extLst>
          </p:cNvPr>
          <p:cNvSpPr>
            <a:spLocks noGrp="1"/>
          </p:cNvSpPr>
          <p:nvPr>
            <p:ph type="ctrTitle"/>
          </p:nvPr>
        </p:nvSpPr>
        <p:spPr>
          <a:xfrm>
            <a:off x="1063515" y="709845"/>
            <a:ext cx="8825658" cy="579459"/>
          </a:xfrm>
        </p:spPr>
        <p:txBody>
          <a:bodyPr/>
          <a:lstStyle/>
          <a:p>
            <a:r>
              <a:rPr lang="en-GB" sz="3200" dirty="0"/>
              <a:t>PROBLEM STATEMENT SUMMARY</a:t>
            </a:r>
            <a:endParaRPr lang="en-IN" dirty="0"/>
          </a:p>
        </p:txBody>
      </p:sp>
      <p:sp>
        <p:nvSpPr>
          <p:cNvPr id="6" name="Title 1">
            <a:extLst>
              <a:ext uri="{FF2B5EF4-FFF2-40B4-BE49-F238E27FC236}">
                <a16:creationId xmlns:a16="http://schemas.microsoft.com/office/drawing/2014/main" id="{05D3C134-2E3E-4C6B-9473-052AB4E9EF69}"/>
              </a:ext>
            </a:extLst>
          </p:cNvPr>
          <p:cNvSpPr txBox="1">
            <a:spLocks/>
          </p:cNvSpPr>
          <p:nvPr/>
        </p:nvSpPr>
        <p:spPr bwMode="gray">
          <a:xfrm>
            <a:off x="972075" y="1487424"/>
            <a:ext cx="8825658" cy="4523571"/>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nSpc>
                <a:spcPct val="107000"/>
              </a:lnSpc>
              <a:spcAft>
                <a:spcPts val="800"/>
              </a:spcAft>
              <a:buFont typeface="Arial" panose="020B0604020202020204" pitchFamily="34" charset="0"/>
              <a:buChar char="•"/>
            </a:pPr>
            <a:r>
              <a:rPr lang="en-GB" sz="1600" dirty="0">
                <a:effectLst/>
                <a:latin typeface="Calibri" panose="020F0502020204030204" pitchFamily="34" charset="0"/>
                <a:ea typeface="Calibri" panose="020F0502020204030204" pitchFamily="34" charset="0"/>
                <a:cs typeface="Times New Roman" panose="02020603050405020304" pitchFamily="18" charset="0"/>
              </a:rPr>
              <a:t>Organizations are struggling to get a handle on why employees leave how workers are spread out across the company and what makes employees happy on the job. This lack of understanding leads to strategies for keeping employees and bad decisions from HR.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GB" sz="1600" dirty="0">
                <a:effectLst/>
                <a:latin typeface="Calibri" panose="020F0502020204030204" pitchFamily="34" charset="0"/>
                <a:ea typeface="Calibri" panose="020F0502020204030204" pitchFamily="34" charset="0"/>
                <a:cs typeface="Times New Roman" panose="02020603050405020304" pitchFamily="18" charset="0"/>
              </a:rPr>
              <a:t>The HR data that is available has a lot of information on employees like where they come from what department they work in what they studied, what their job is and how satisfied they are with their work.. All this data is not being used to get useful insights that can help.</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GB" sz="1600" dirty="0">
                <a:effectLst/>
                <a:latin typeface="Calibri" panose="020F0502020204030204" pitchFamily="34" charset="0"/>
                <a:ea typeface="Calibri" panose="020F0502020204030204" pitchFamily="34" charset="0"/>
                <a:cs typeface="Times New Roman" panose="02020603050405020304" pitchFamily="18" charset="0"/>
              </a:rPr>
              <a:t>The main issue here is employee attrition. Organizations are struggling with employee attrition. They are also struggling to understand workforce distribution.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GB" sz="1600" dirty="0">
                <a:effectLst/>
                <a:latin typeface="Calibri" panose="020F0502020204030204" pitchFamily="34" charset="0"/>
                <a:ea typeface="Calibri" panose="020F0502020204030204" pitchFamily="34" charset="0"/>
                <a:cs typeface="Times New Roman" panose="02020603050405020304" pitchFamily="18" charset="0"/>
              </a:rPr>
              <a:t>They are struggling to understand job satisfaction patterns. All these struggles lead to retention strategies. They also lead to HR decision-making.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GB" sz="1600" dirty="0">
                <a:effectLst/>
                <a:latin typeface="Calibri" panose="020F0502020204030204" pitchFamily="34" charset="0"/>
                <a:ea typeface="Calibri" panose="020F0502020204030204" pitchFamily="34" charset="0"/>
                <a:cs typeface="Times New Roman" panose="02020603050405020304" pitchFamily="18" charset="0"/>
              </a:rPr>
              <a:t>The available HR data contains information on employee demographics. It also contains information on departments.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GB" sz="1600" dirty="0">
                <a:effectLst/>
                <a:latin typeface="Calibri" panose="020F0502020204030204" pitchFamily="34" charset="0"/>
                <a:ea typeface="Calibri" panose="020F0502020204030204" pitchFamily="34" charset="0"/>
                <a:cs typeface="Times New Roman" panose="02020603050405020304" pitchFamily="18" charset="0"/>
              </a:rPr>
              <a:t>There is information on education. There is information on job roles. There is information, on satisfaction levels.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GB" sz="1600" dirty="0">
                <a:effectLst/>
                <a:latin typeface="Calibri" panose="020F0502020204030204" pitchFamily="34" charset="0"/>
                <a:ea typeface="Calibri" panose="020F0502020204030204" pitchFamily="34" charset="0"/>
                <a:cs typeface="Times New Roman" panose="02020603050405020304" pitchFamily="18" charset="0"/>
              </a:rPr>
              <a:t>It is not being effectively </a:t>
            </a:r>
            <a:r>
              <a:rPr lang="en-GB" sz="1600" dirty="0" err="1">
                <a:effectLst/>
                <a:latin typeface="Calibri" panose="020F0502020204030204" pitchFamily="34" charset="0"/>
                <a:ea typeface="Calibri" panose="020F0502020204030204" pitchFamily="34" charset="0"/>
                <a:cs typeface="Times New Roman" panose="02020603050405020304" pitchFamily="18" charset="0"/>
              </a:rPr>
              <a:t>analyzed</a:t>
            </a:r>
            <a:r>
              <a:rPr lang="en-GB" sz="1600" dirty="0">
                <a:effectLst/>
                <a:latin typeface="Calibri" panose="020F0502020204030204" pitchFamily="34" charset="0"/>
                <a:ea typeface="Calibri" panose="020F0502020204030204" pitchFamily="34" charset="0"/>
                <a:cs typeface="Times New Roman" panose="02020603050405020304" pitchFamily="18" charset="0"/>
              </a:rPr>
              <a:t>. It is not being used to generate insights.</a:t>
            </a:r>
            <a:endParaRPr lang="en-IN" sz="4800" dirty="0"/>
          </a:p>
        </p:txBody>
      </p:sp>
    </p:spTree>
    <p:extLst>
      <p:ext uri="{BB962C8B-B14F-4D97-AF65-F5344CB8AC3E}">
        <p14:creationId xmlns:p14="http://schemas.microsoft.com/office/powerpoint/2010/main" val="675931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AB93-B752-4712-87D4-F5E168FE3B10}"/>
              </a:ext>
            </a:extLst>
          </p:cNvPr>
          <p:cNvSpPr>
            <a:spLocks noGrp="1"/>
          </p:cNvSpPr>
          <p:nvPr>
            <p:ph type="ctrTitle"/>
          </p:nvPr>
        </p:nvSpPr>
        <p:spPr>
          <a:xfrm>
            <a:off x="1063515" y="709845"/>
            <a:ext cx="8825658" cy="579459"/>
          </a:xfrm>
        </p:spPr>
        <p:txBody>
          <a:bodyPr/>
          <a:lstStyle/>
          <a:p>
            <a:r>
              <a:rPr lang="en-GB" sz="3200" dirty="0"/>
              <a:t>DELIVERABLES</a:t>
            </a:r>
            <a:endParaRPr lang="en-IN" dirty="0"/>
          </a:p>
        </p:txBody>
      </p:sp>
      <p:sp>
        <p:nvSpPr>
          <p:cNvPr id="6" name="Title 1">
            <a:extLst>
              <a:ext uri="{FF2B5EF4-FFF2-40B4-BE49-F238E27FC236}">
                <a16:creationId xmlns:a16="http://schemas.microsoft.com/office/drawing/2014/main" id="{05D3C134-2E3E-4C6B-9473-052AB4E9EF69}"/>
              </a:ext>
            </a:extLst>
          </p:cNvPr>
          <p:cNvSpPr txBox="1">
            <a:spLocks/>
          </p:cNvSpPr>
          <p:nvPr/>
        </p:nvSpPr>
        <p:spPr bwMode="gray">
          <a:xfrm>
            <a:off x="624602" y="527304"/>
            <a:ext cx="10238469" cy="4523571"/>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1. </a:t>
            </a:r>
            <a:r>
              <a:rPr lang="en-IN" sz="1600" b="1" dirty="0">
                <a:effectLst/>
                <a:latin typeface="Calibri" panose="020F0502020204030204" pitchFamily="34" charset="0"/>
                <a:ea typeface="Calibri" panose="020F0502020204030204" pitchFamily="34" charset="0"/>
                <a:cs typeface="Times New Roman" panose="02020603050405020304" pitchFamily="18" charset="0"/>
              </a:rPr>
              <a:t>Data Preparation &amp; Modelling (MS-Excel)</a:t>
            </a:r>
            <a:r>
              <a:rPr lang="en-IN" sz="1600" dirty="0">
                <a:effectLst/>
                <a:latin typeface="Calibri" panose="020F0502020204030204" pitchFamily="34" charset="0"/>
                <a:ea typeface="Calibri" panose="020F0502020204030204" pitchFamily="34" charset="0"/>
                <a:cs typeface="Times New Roman" panose="02020603050405020304" pitchFamily="18" charset="0"/>
              </a:rPr>
              <a:t>: Clean and transform the raw dataset for analysis. </a:t>
            </a:r>
          </a:p>
          <a:p>
            <a:pPr marL="457200">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2. </a:t>
            </a:r>
            <a:r>
              <a:rPr lang="en-IN" sz="1600" b="1" dirty="0">
                <a:effectLst/>
                <a:latin typeface="Calibri" panose="020F0502020204030204" pitchFamily="34" charset="0"/>
                <a:ea typeface="Calibri" panose="020F0502020204030204" pitchFamily="34" charset="0"/>
                <a:cs typeface="Times New Roman" panose="02020603050405020304" pitchFamily="18" charset="0"/>
              </a:rPr>
              <a:t>Data Analysis (SQL)</a:t>
            </a:r>
            <a:r>
              <a:rPr lang="en-IN" sz="1600" dirty="0">
                <a:effectLst/>
                <a:latin typeface="Calibri" panose="020F0502020204030204" pitchFamily="34" charset="0"/>
                <a:ea typeface="Calibri" panose="020F0502020204030204" pitchFamily="34" charset="0"/>
                <a:cs typeface="Times New Roman" panose="02020603050405020304" pitchFamily="18" charset="0"/>
              </a:rPr>
              <a:t>: Organize the data into a structured format, simulate business transactions, </a:t>
            </a:r>
          </a:p>
          <a:p>
            <a:pPr marL="457200">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	and run queries to extract insights on customer segments, loyalty, and purchase drivers. </a:t>
            </a:r>
          </a:p>
          <a:p>
            <a:pPr marL="457200">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3. </a:t>
            </a:r>
            <a:r>
              <a:rPr lang="en-IN" sz="1600" b="1" dirty="0">
                <a:effectLst/>
                <a:latin typeface="Calibri" panose="020F0502020204030204" pitchFamily="34" charset="0"/>
                <a:ea typeface="Calibri" panose="020F0502020204030204" pitchFamily="34" charset="0"/>
                <a:cs typeface="Times New Roman" panose="02020603050405020304" pitchFamily="18" charset="0"/>
              </a:rPr>
              <a:t>Visualization &amp; Insights (Power BI)</a:t>
            </a:r>
            <a:r>
              <a:rPr lang="en-IN" sz="1600" dirty="0">
                <a:effectLst/>
                <a:latin typeface="Calibri" panose="020F0502020204030204" pitchFamily="34" charset="0"/>
                <a:ea typeface="Calibri" panose="020F0502020204030204" pitchFamily="34" charset="0"/>
                <a:cs typeface="Times New Roman" panose="02020603050405020304" pitchFamily="18" charset="0"/>
              </a:rPr>
              <a:t>: Build an interactive dashboard that highlights key patterns and trends, </a:t>
            </a:r>
          </a:p>
          <a:p>
            <a:pPr marL="457200">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	enabling stakeholders to make data-driven decisions. </a:t>
            </a:r>
          </a:p>
          <a:p>
            <a:pPr marL="457200">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4. </a:t>
            </a:r>
            <a:r>
              <a:rPr lang="en-IN" sz="1600" b="1" dirty="0">
                <a:effectLst/>
                <a:latin typeface="Calibri" panose="020F0502020204030204" pitchFamily="34" charset="0"/>
                <a:ea typeface="Calibri" panose="020F0502020204030204" pitchFamily="34" charset="0"/>
                <a:cs typeface="Times New Roman" panose="02020603050405020304" pitchFamily="18" charset="0"/>
              </a:rPr>
              <a:t>Report and Presentation</a:t>
            </a:r>
            <a:r>
              <a:rPr lang="en-IN" sz="1600" dirty="0">
                <a:effectLst/>
                <a:latin typeface="Calibri" panose="020F0502020204030204" pitchFamily="34" charset="0"/>
                <a:ea typeface="Calibri" panose="020F0502020204030204" pitchFamily="34" charset="0"/>
                <a:cs typeface="Times New Roman" panose="02020603050405020304" pitchFamily="18" charset="0"/>
              </a:rPr>
              <a:t>: Write a clear project report summarizing your key findings and business </a:t>
            </a:r>
          </a:p>
          <a:p>
            <a:pPr marL="457200">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	recommendations. Prepare a presentation that visually communicates insights and actionable 	recommendations to stakeholders. </a:t>
            </a:r>
          </a:p>
          <a:p>
            <a:pPr marL="457200">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5. </a:t>
            </a:r>
            <a:r>
              <a:rPr lang="en-IN" sz="1600" b="1" dirty="0">
                <a:effectLst/>
                <a:latin typeface="Calibri" panose="020F0502020204030204" pitchFamily="34" charset="0"/>
                <a:ea typeface="Calibri" panose="020F0502020204030204" pitchFamily="34" charset="0"/>
                <a:cs typeface="Times New Roman" panose="02020603050405020304" pitchFamily="18" charset="0"/>
              </a:rPr>
              <a:t>GitHub Repository</a:t>
            </a:r>
            <a:r>
              <a:rPr lang="en-IN" sz="1600" dirty="0">
                <a:effectLst/>
                <a:latin typeface="Calibri" panose="020F0502020204030204" pitchFamily="34" charset="0"/>
                <a:ea typeface="Calibri" panose="020F0502020204030204" pitchFamily="34" charset="0"/>
                <a:cs typeface="Times New Roman" panose="02020603050405020304" pitchFamily="18" charset="0"/>
              </a:rPr>
              <a:t>: Include all Python scripts, SQL queries, and dashboard files in a well-structured repository.</a:t>
            </a:r>
          </a:p>
        </p:txBody>
      </p:sp>
    </p:spTree>
    <p:extLst>
      <p:ext uri="{BB962C8B-B14F-4D97-AF65-F5344CB8AC3E}">
        <p14:creationId xmlns:p14="http://schemas.microsoft.com/office/powerpoint/2010/main" val="2221443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Uploaded image">
            <a:extLst>
              <a:ext uri="{FF2B5EF4-FFF2-40B4-BE49-F238E27FC236}">
                <a16:creationId xmlns:a16="http://schemas.microsoft.com/office/drawing/2014/main" id="{0732B9E8-5B48-4812-8D9F-76362CEF90A5}"/>
              </a:ext>
            </a:extLst>
          </p:cNvPr>
          <p:cNvSpPr>
            <a:spLocks noChangeAspect="1" noChangeArrowheads="1"/>
          </p:cNvSpPr>
          <p:nvPr/>
        </p:nvSpPr>
        <p:spPr bwMode="auto">
          <a:xfrm>
            <a:off x="3236976" y="569976"/>
            <a:ext cx="3011424" cy="30114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2191FC8D-4F85-4587-B268-EE8764826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57359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AB93-B752-4712-87D4-F5E168FE3B10}"/>
              </a:ext>
            </a:extLst>
          </p:cNvPr>
          <p:cNvSpPr>
            <a:spLocks noGrp="1"/>
          </p:cNvSpPr>
          <p:nvPr>
            <p:ph type="ctrTitle"/>
          </p:nvPr>
        </p:nvSpPr>
        <p:spPr>
          <a:xfrm>
            <a:off x="1063515" y="755565"/>
            <a:ext cx="8825658" cy="579459"/>
          </a:xfrm>
        </p:spPr>
        <p:txBody>
          <a:bodyPr/>
          <a:lstStyle/>
          <a:p>
            <a:r>
              <a:rPr lang="en-GB" sz="3200" dirty="0"/>
              <a:t>KEY BUSINESS INSIGHTS</a:t>
            </a:r>
            <a:endParaRPr lang="en-IN" dirty="0"/>
          </a:p>
        </p:txBody>
      </p:sp>
      <p:sp>
        <p:nvSpPr>
          <p:cNvPr id="6" name="Title 1">
            <a:extLst>
              <a:ext uri="{FF2B5EF4-FFF2-40B4-BE49-F238E27FC236}">
                <a16:creationId xmlns:a16="http://schemas.microsoft.com/office/drawing/2014/main" id="{05D3C134-2E3E-4C6B-9473-052AB4E9EF69}"/>
              </a:ext>
            </a:extLst>
          </p:cNvPr>
          <p:cNvSpPr txBox="1">
            <a:spLocks/>
          </p:cNvSpPr>
          <p:nvPr/>
        </p:nvSpPr>
        <p:spPr bwMode="gray">
          <a:xfrm>
            <a:off x="1063515" y="1869948"/>
            <a:ext cx="10238469" cy="311810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buFont typeface="Arial" panose="020B0604020202020204" pitchFamily="34" charset="0"/>
              <a:buChar char="•"/>
            </a:pPr>
            <a:endParaRPr lang="en-GB" sz="1800" b="1" dirty="0"/>
          </a:p>
          <a:p>
            <a:pPr marL="285750" indent="-285750">
              <a:buFont typeface="Arial" panose="020B0604020202020204" pitchFamily="34" charset="0"/>
              <a:buChar char="•"/>
            </a:pPr>
            <a:r>
              <a:rPr lang="en-GB" sz="1800" b="1" dirty="0"/>
              <a:t>Attrition Rate is 16.12% (237 employees)</a:t>
            </a:r>
            <a:r>
              <a:rPr lang="en-GB" sz="1800" dirty="0"/>
              <a:t> → This is </a:t>
            </a:r>
            <a:r>
              <a:rPr lang="en-GB" sz="1800" b="1" dirty="0"/>
              <a:t>not low</a:t>
            </a:r>
            <a:r>
              <a:rPr lang="en-GB" sz="1800" dirty="0"/>
              <a:t>, it’s a retention problem. </a:t>
            </a:r>
          </a:p>
          <a:p>
            <a:pPr marL="285750" indent="-285750">
              <a:buFont typeface="Arial" panose="020B0604020202020204" pitchFamily="34" charset="0"/>
              <a:buChar char="•"/>
            </a:pPr>
            <a:r>
              <a:rPr lang="en-GB" sz="1800" b="1" dirty="0"/>
              <a:t>Sales (38.82%) and R&amp;D (56.12%) dominate attrition</a:t>
            </a:r>
            <a:r>
              <a:rPr lang="en-GB" sz="1800" dirty="0"/>
              <a:t> → Core business functions are bleeding talent. </a:t>
            </a:r>
          </a:p>
          <a:p>
            <a:pPr marL="285750" indent="-285750">
              <a:buFont typeface="Arial" panose="020B0604020202020204" pitchFamily="34" charset="0"/>
              <a:buChar char="•"/>
            </a:pPr>
            <a:r>
              <a:rPr lang="en-GB" sz="1800" b="1" dirty="0"/>
              <a:t>Age group 25–34 has the highest employee count AND highest attrition (112)</a:t>
            </a:r>
            <a:r>
              <a:rPr lang="en-GB" sz="1800" dirty="0"/>
              <a:t> → Mid-career instability. </a:t>
            </a:r>
          </a:p>
          <a:p>
            <a:pPr marL="285750" indent="-285750">
              <a:buFont typeface="Arial" panose="020B0604020202020204" pitchFamily="34" charset="0"/>
              <a:buChar char="•"/>
            </a:pPr>
            <a:r>
              <a:rPr lang="en-GB" sz="1800" b="1" dirty="0"/>
              <a:t>Life Sciences (89) and Medical (63) show highest attrition by education</a:t>
            </a:r>
            <a:r>
              <a:rPr lang="en-GB" sz="1800" dirty="0"/>
              <a:t> → Specialized talent loss. </a:t>
            </a:r>
          </a:p>
          <a:p>
            <a:pPr marL="285750" indent="-285750">
              <a:buFont typeface="Arial" panose="020B0604020202020204" pitchFamily="34" charset="0"/>
              <a:buChar char="•"/>
            </a:pPr>
            <a:r>
              <a:rPr lang="en-GB" sz="1800" b="1" dirty="0"/>
              <a:t>Sales Executive (326 total) has high dissatisfaction and attrition exposure</a:t>
            </a:r>
            <a:r>
              <a:rPr lang="en-GB" sz="1800" dirty="0"/>
              <a:t> → High-risk role. </a:t>
            </a:r>
          </a:p>
          <a:p>
            <a:pPr marL="285750" indent="-285750">
              <a:buFont typeface="Arial" panose="020B0604020202020204" pitchFamily="34" charset="0"/>
              <a:buChar char="•"/>
            </a:pPr>
            <a:r>
              <a:rPr lang="en-GB" sz="1800" b="1" dirty="0"/>
              <a:t>Job satisfaction varies heavily across roles</a:t>
            </a:r>
            <a:r>
              <a:rPr lang="en-GB" sz="1800" dirty="0"/>
              <a:t> → Not a company-wide issue, it’s role-specific. </a:t>
            </a:r>
          </a:p>
          <a:p>
            <a:pPr marL="285750" indent="-285750">
              <a:buFont typeface="Arial" panose="020B0604020202020204" pitchFamily="34" charset="0"/>
              <a:buChar char="•"/>
            </a:pPr>
            <a:r>
              <a:rPr lang="en-GB" sz="1800" b="1" dirty="0"/>
              <a:t>Male employees show slightly higher attrition in most age groups</a:t>
            </a:r>
            <a:r>
              <a:rPr lang="en-GB" sz="1800" dirty="0"/>
              <a:t> → Possible workload or role imbalance. </a:t>
            </a:r>
          </a:p>
        </p:txBody>
      </p:sp>
    </p:spTree>
    <p:extLst>
      <p:ext uri="{BB962C8B-B14F-4D97-AF65-F5344CB8AC3E}">
        <p14:creationId xmlns:p14="http://schemas.microsoft.com/office/powerpoint/2010/main" val="239132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AB93-B752-4712-87D4-F5E168FE3B10}"/>
              </a:ext>
            </a:extLst>
          </p:cNvPr>
          <p:cNvSpPr>
            <a:spLocks noGrp="1"/>
          </p:cNvSpPr>
          <p:nvPr>
            <p:ph type="ctrTitle"/>
          </p:nvPr>
        </p:nvSpPr>
        <p:spPr>
          <a:xfrm>
            <a:off x="1063515" y="755565"/>
            <a:ext cx="8825658" cy="579459"/>
          </a:xfrm>
        </p:spPr>
        <p:txBody>
          <a:bodyPr/>
          <a:lstStyle/>
          <a:p>
            <a:r>
              <a:rPr lang="en-GB" sz="3200" dirty="0"/>
              <a:t>ROOT CAUSE ANALYSIS</a:t>
            </a:r>
            <a:endParaRPr lang="en-IN" dirty="0"/>
          </a:p>
        </p:txBody>
      </p:sp>
      <p:sp>
        <p:nvSpPr>
          <p:cNvPr id="6" name="Title 1">
            <a:extLst>
              <a:ext uri="{FF2B5EF4-FFF2-40B4-BE49-F238E27FC236}">
                <a16:creationId xmlns:a16="http://schemas.microsoft.com/office/drawing/2014/main" id="{05D3C134-2E3E-4C6B-9473-052AB4E9EF69}"/>
              </a:ext>
            </a:extLst>
          </p:cNvPr>
          <p:cNvSpPr txBox="1">
            <a:spLocks/>
          </p:cNvSpPr>
          <p:nvPr/>
        </p:nvSpPr>
        <p:spPr bwMode="gray">
          <a:xfrm>
            <a:off x="1063515" y="2473452"/>
            <a:ext cx="10238469" cy="311810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buFont typeface="Arial" panose="020B0604020202020204" pitchFamily="34" charset="0"/>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High Role Pressure in Key Departments</a:t>
            </a:r>
          </a:p>
          <a:p>
            <a:pPr marL="457200">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Attrition is heavily concentrated in Sales and R&amp;D, which are critical revenue and innovation functions.</a:t>
            </a:r>
          </a:p>
          <a:p>
            <a:pPr marL="457200">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This indicates high performance pressure, tight deadlines, and workload stress contributing to employee exits.</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Lack of Career Growth for Mid-Level Employees</a:t>
            </a:r>
          </a:p>
          <a:p>
            <a:pPr marL="4572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Employees in the 25–34 age group show the highest attrition.</a:t>
            </a:r>
          </a:p>
          <a:p>
            <a:pPr marL="4572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This suggests limited career progression opportunities, slow promotions, or lack of skill development, leading to frequent job switches.</a:t>
            </a:r>
          </a:p>
          <a:p>
            <a:pPr marL="457200">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GB" sz="1800" dirty="0"/>
          </a:p>
        </p:txBody>
      </p:sp>
    </p:spTree>
    <p:extLst>
      <p:ext uri="{BB962C8B-B14F-4D97-AF65-F5344CB8AC3E}">
        <p14:creationId xmlns:p14="http://schemas.microsoft.com/office/powerpoint/2010/main" val="3570108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AB93-B752-4712-87D4-F5E168FE3B10}"/>
              </a:ext>
            </a:extLst>
          </p:cNvPr>
          <p:cNvSpPr>
            <a:spLocks noGrp="1"/>
          </p:cNvSpPr>
          <p:nvPr>
            <p:ph type="ctrTitle"/>
          </p:nvPr>
        </p:nvSpPr>
        <p:spPr>
          <a:xfrm>
            <a:off x="1063515" y="755565"/>
            <a:ext cx="8825658" cy="579459"/>
          </a:xfrm>
        </p:spPr>
        <p:txBody>
          <a:bodyPr/>
          <a:lstStyle/>
          <a:p>
            <a:r>
              <a:rPr lang="en-GB" sz="3200" dirty="0"/>
              <a:t>ROOT CAUSE ANALYSIS</a:t>
            </a:r>
            <a:endParaRPr lang="en-IN" dirty="0"/>
          </a:p>
        </p:txBody>
      </p:sp>
      <p:sp>
        <p:nvSpPr>
          <p:cNvPr id="6" name="Title 1">
            <a:extLst>
              <a:ext uri="{FF2B5EF4-FFF2-40B4-BE49-F238E27FC236}">
                <a16:creationId xmlns:a16="http://schemas.microsoft.com/office/drawing/2014/main" id="{05D3C134-2E3E-4C6B-9473-052AB4E9EF69}"/>
              </a:ext>
            </a:extLst>
          </p:cNvPr>
          <p:cNvSpPr txBox="1">
            <a:spLocks/>
          </p:cNvSpPr>
          <p:nvPr/>
        </p:nvSpPr>
        <p:spPr bwMode="gray">
          <a:xfrm>
            <a:off x="1063515" y="2025396"/>
            <a:ext cx="10238469" cy="311810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nSpc>
                <a:spcPct val="107000"/>
              </a:lnSpc>
              <a:spcAft>
                <a:spcPts val="800"/>
              </a:spcAft>
              <a:buFont typeface="Arial" panose="020B0604020202020204" pitchFamily="34" charset="0"/>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Uneven Job Satisfaction Across Roles</a:t>
            </a:r>
          </a:p>
          <a:p>
            <a:pPr marL="4572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Job satisfaction levels vary significantly between roles.</a:t>
            </a:r>
          </a:p>
          <a:p>
            <a:pPr marL="4572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Roles such as Sales Executive and HR show relatively lower satisfaction, indicating inconsistent management practices, incentives, or work conditions.</a:t>
            </a:r>
          </a:p>
          <a:p>
            <a:pPr>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285750" indent="-285750">
              <a:lnSpc>
                <a:spcPct val="107000"/>
              </a:lnSpc>
              <a:spcAft>
                <a:spcPts val="800"/>
              </a:spcAft>
              <a:buFont typeface="Arial" panose="020B0604020202020204" pitchFamily="34" charset="0"/>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Loss of Specialized Talent</a:t>
            </a:r>
          </a:p>
          <a:p>
            <a:pPr indent="4572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Higher attrition is observed among employees from Life Sciences and Medical backgrounds.</a:t>
            </a:r>
          </a:p>
          <a:p>
            <a:pPr marL="4572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This points to high market demand and competitive offers, making it difficult to retain skilled professionals.</a:t>
            </a:r>
          </a:p>
        </p:txBody>
      </p:sp>
    </p:spTree>
    <p:extLst>
      <p:ext uri="{BB962C8B-B14F-4D97-AF65-F5344CB8AC3E}">
        <p14:creationId xmlns:p14="http://schemas.microsoft.com/office/powerpoint/2010/main" val="3103912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AB93-B752-4712-87D4-F5E168FE3B10}"/>
              </a:ext>
            </a:extLst>
          </p:cNvPr>
          <p:cNvSpPr>
            <a:spLocks noGrp="1"/>
          </p:cNvSpPr>
          <p:nvPr>
            <p:ph type="ctrTitle"/>
          </p:nvPr>
        </p:nvSpPr>
        <p:spPr>
          <a:xfrm>
            <a:off x="1063515" y="755565"/>
            <a:ext cx="8825658" cy="579459"/>
          </a:xfrm>
        </p:spPr>
        <p:txBody>
          <a:bodyPr/>
          <a:lstStyle/>
          <a:p>
            <a:r>
              <a:rPr lang="en-GB" sz="3200" dirty="0"/>
              <a:t>ROOT CAUSE ANALYSIS</a:t>
            </a:r>
            <a:endParaRPr lang="en-IN" dirty="0"/>
          </a:p>
        </p:txBody>
      </p:sp>
      <p:sp>
        <p:nvSpPr>
          <p:cNvPr id="6" name="Title 1">
            <a:extLst>
              <a:ext uri="{FF2B5EF4-FFF2-40B4-BE49-F238E27FC236}">
                <a16:creationId xmlns:a16="http://schemas.microsoft.com/office/drawing/2014/main" id="{05D3C134-2E3E-4C6B-9473-052AB4E9EF69}"/>
              </a:ext>
            </a:extLst>
          </p:cNvPr>
          <p:cNvSpPr txBox="1">
            <a:spLocks/>
          </p:cNvSpPr>
          <p:nvPr/>
        </p:nvSpPr>
        <p:spPr bwMode="gray">
          <a:xfrm>
            <a:off x="1063515" y="1147572"/>
            <a:ext cx="10238469" cy="311810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nSpc>
                <a:spcPct val="107000"/>
              </a:lnSpc>
              <a:spcAft>
                <a:spcPts val="800"/>
              </a:spcAft>
              <a:buFont typeface="Arial" panose="020B0604020202020204" pitchFamily="34" charset="0"/>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Absence of Targeted Retention Strategies</a:t>
            </a:r>
          </a:p>
          <a:p>
            <a:pPr marL="4572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Attrition is concentrated in specific departments, roles, and demographics rather than being evenly distributed.</a:t>
            </a:r>
          </a:p>
          <a:p>
            <a:pPr marL="457200">
              <a:lnSpc>
                <a:spcPct val="107000"/>
              </a:lnSpc>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This indicates the organization is relying on generic HR policies instead of data-driven, targeted retention strategies.</a:t>
            </a:r>
          </a:p>
        </p:txBody>
      </p:sp>
    </p:spTree>
    <p:extLst>
      <p:ext uri="{BB962C8B-B14F-4D97-AF65-F5344CB8AC3E}">
        <p14:creationId xmlns:p14="http://schemas.microsoft.com/office/powerpoint/2010/main" val="3520666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AB93-B752-4712-87D4-F5E168FE3B10}"/>
              </a:ext>
            </a:extLst>
          </p:cNvPr>
          <p:cNvSpPr>
            <a:spLocks noGrp="1"/>
          </p:cNvSpPr>
          <p:nvPr>
            <p:ph type="ctrTitle"/>
          </p:nvPr>
        </p:nvSpPr>
        <p:spPr>
          <a:xfrm>
            <a:off x="1063515" y="920157"/>
            <a:ext cx="8825658" cy="579459"/>
          </a:xfrm>
        </p:spPr>
        <p:txBody>
          <a:bodyPr/>
          <a:lstStyle/>
          <a:p>
            <a:r>
              <a:rPr lang="en-IN" sz="3200" dirty="0"/>
              <a:t>Conclusion</a:t>
            </a:r>
          </a:p>
        </p:txBody>
      </p:sp>
      <p:sp>
        <p:nvSpPr>
          <p:cNvPr id="6" name="Title 1">
            <a:extLst>
              <a:ext uri="{FF2B5EF4-FFF2-40B4-BE49-F238E27FC236}">
                <a16:creationId xmlns:a16="http://schemas.microsoft.com/office/drawing/2014/main" id="{05D3C134-2E3E-4C6B-9473-052AB4E9EF69}"/>
              </a:ext>
            </a:extLst>
          </p:cNvPr>
          <p:cNvSpPr txBox="1">
            <a:spLocks/>
          </p:cNvSpPr>
          <p:nvPr/>
        </p:nvSpPr>
        <p:spPr bwMode="gray">
          <a:xfrm>
            <a:off x="1063515" y="1499616"/>
            <a:ext cx="10238469" cy="2807208"/>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a:lnSpc>
                <a:spcPct val="107000"/>
              </a:lnSpc>
              <a:spcAft>
                <a:spcPts val="800"/>
              </a:spcAft>
              <a:buFont typeface="Arial" panose="020B0604020202020204" pitchFamily="34" charset="0"/>
              <a:buChar char="•"/>
            </a:pPr>
            <a:r>
              <a:rPr lang="en-GB" sz="1800" dirty="0">
                <a:latin typeface="Calibri" panose="020F0502020204030204" pitchFamily="34" charset="0"/>
                <a:ea typeface="Calibri" panose="020F0502020204030204" pitchFamily="34" charset="0"/>
                <a:cs typeface="Times New Roman" panose="02020603050405020304" pitchFamily="18" charset="0"/>
              </a:rPr>
              <a:t>The company is facing significant attrition (16.12%), especially in Sales and R&amp;D departments.</a:t>
            </a:r>
          </a:p>
          <a:p>
            <a:pPr marL="285750" indent="-285750">
              <a:lnSpc>
                <a:spcPct val="107000"/>
              </a:lnSpc>
              <a:spcAft>
                <a:spcPts val="800"/>
              </a:spcAft>
              <a:buFont typeface="Arial" panose="020B0604020202020204" pitchFamily="34" charset="0"/>
              <a:buChar char="•"/>
            </a:pPr>
            <a:r>
              <a:rPr lang="en-GB" sz="1800" dirty="0">
                <a:latin typeface="Calibri" panose="020F0502020204030204" pitchFamily="34" charset="0"/>
                <a:ea typeface="Calibri" panose="020F0502020204030204" pitchFamily="34" charset="0"/>
                <a:cs typeface="Times New Roman" panose="02020603050405020304" pitchFamily="18" charset="0"/>
              </a:rPr>
              <a:t>Mid-career employees (25–34) are the most affected group, indicating gaps in career growth and engagement.</a:t>
            </a:r>
          </a:p>
          <a:p>
            <a:pPr marL="285750" indent="-285750">
              <a:lnSpc>
                <a:spcPct val="107000"/>
              </a:lnSpc>
              <a:spcAft>
                <a:spcPts val="800"/>
              </a:spcAft>
              <a:buFont typeface="Arial" panose="020B0604020202020204" pitchFamily="34" charset="0"/>
              <a:buChar char="•"/>
            </a:pPr>
            <a:r>
              <a:rPr lang="en-GB" sz="1800" dirty="0">
                <a:latin typeface="Calibri" panose="020F0502020204030204" pitchFamily="34" charset="0"/>
                <a:ea typeface="Calibri" panose="020F0502020204030204" pitchFamily="34" charset="0"/>
                <a:cs typeface="Times New Roman" panose="02020603050405020304" pitchFamily="18" charset="0"/>
              </a:rPr>
              <a:t>Attrition is not random — it is driven by role pressure, job dissatisfaction, and lack of targeted HR strategies.</a:t>
            </a:r>
          </a:p>
          <a:p>
            <a:pPr marL="285750" indent="-285750">
              <a:lnSpc>
                <a:spcPct val="107000"/>
              </a:lnSpc>
              <a:spcAft>
                <a:spcPts val="800"/>
              </a:spcAft>
              <a:buFont typeface="Arial" panose="020B0604020202020204" pitchFamily="34" charset="0"/>
              <a:buChar char="•"/>
            </a:pPr>
            <a:r>
              <a:rPr lang="en-GB" sz="1800" dirty="0">
                <a:latin typeface="Calibri" panose="020F0502020204030204" pitchFamily="34" charset="0"/>
                <a:ea typeface="Calibri" panose="020F0502020204030204" pitchFamily="34" charset="0"/>
                <a:cs typeface="Times New Roman" panose="02020603050405020304" pitchFamily="18" charset="0"/>
              </a:rPr>
              <a:t>Immediate, data-driven interventions are required to reduce attrition and stabilize workforce performance.</a:t>
            </a:r>
          </a:p>
        </p:txBody>
      </p:sp>
    </p:spTree>
    <p:extLst>
      <p:ext uri="{BB962C8B-B14F-4D97-AF65-F5344CB8AC3E}">
        <p14:creationId xmlns:p14="http://schemas.microsoft.com/office/powerpoint/2010/main" val="33312923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26</TotalTime>
  <Words>757</Words>
  <Application>Microsoft Office PowerPoint</Application>
  <PresentationFormat>Widescreen</PresentationFormat>
  <Paragraphs>53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Century Gothic</vt:lpstr>
      <vt:lpstr>Wingdings 3</vt:lpstr>
      <vt:lpstr>Ion Boardroom</vt:lpstr>
      <vt:lpstr>HR ANALYTICS DASHBOARD</vt:lpstr>
      <vt:lpstr>PROBLEM STATEMENT SUMMARY</vt:lpstr>
      <vt:lpstr>DELIVERABLES</vt:lpstr>
      <vt:lpstr>PowerPoint Presentation</vt:lpstr>
      <vt:lpstr>KEY BUSINESS INSIGHTS</vt:lpstr>
      <vt:lpstr>ROOT CAUSE ANALYSIS</vt:lpstr>
      <vt:lpstr>ROOT CAUSE ANALYSIS</vt:lpstr>
      <vt:lpstr>ROOT CAUSE ANALYSIS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 DASHBOARD</dc:title>
  <dc:creator>Kannan Logaperumal</dc:creator>
  <cp:lastModifiedBy>Kannan Logaperumal</cp:lastModifiedBy>
  <cp:revision>3</cp:revision>
  <dcterms:created xsi:type="dcterms:W3CDTF">2026-04-12T04:31:10Z</dcterms:created>
  <dcterms:modified xsi:type="dcterms:W3CDTF">2026-04-12T04:57:58Z</dcterms:modified>
</cp:coreProperties>
</file>